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eef43b9-9628-687a-f051-25087ec08939}">
          <p14:sldIdLst>
            <p14:sldId id="256"/>
            <p14:sldId id="257"/>
          </p14:sldIdLst>
        </p14:section>
        <p14:section name="Market size" id="{0f22609d-6ef5-c769-8eca-641a4c78fe48}">
          <p14:sldIdLst>
            <p14:sldId id="258"/>
            <p14:sldId id="259"/>
            <p14:sldId id="260"/>
          </p14:sldIdLst>
        </p14:section>
        <p14:section name="Trends" id="{1b79b0f8-783a-69b1-99af-93103e8bcb98}">
          <p14:sldIdLst>
            <p14:sldId id="261"/>
            <p14:sldId id="262"/>
            <p14:sldId id="263"/>
          </p14:sldIdLst>
        </p14:section>
        <p14:section name="Drivers and implications" id="{f4083d41-5cb5-b181-a212-3edce490b31d}">
          <p14:sldIdLst>
            <p14:sldId id="264"/>
          </p14:sldIdLst>
        </p14:section>
        <p14:section name="Risk assessment" id="{3e4db3a4-c6c1-8c4d-45df-2b53d266d3a8}">
          <p14:sldIdLst>
            <p14:sldId id="265"/>
          </p14:sldIdLst>
        </p14:section>
        <p14:section name="Outlook" id="{cf51b007-c2c4-86bb-4dee-1232ab0531d4}">
          <p14:sldIdLst>
            <p14:sldId id="266"/>
          </p14:sldIdLst>
        </p14:section>
        <p14:section name="Appendix" id="{e9fbcbbe-1db5-ff10-cbf2-47aeb6f5d4a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China regional semiconductor sales, USD bn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 market (USD bn)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48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</c:v>
                </c:pt>
                <c:pt idx="1">
                  <c:v>192</c:v>
                </c:pt>
                <c:pt idx="2">
                  <c:v>180</c:v>
                </c:pt>
                <c:pt idx="3">
                  <c:v>153</c:v>
                </c:pt>
                <c:pt idx="4">
                  <c:v>151</c:v>
                </c:pt>
                <c:pt idx="5">
                  <c:v>177.1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Year-on-year growth,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D9482B"/>
            </a:solidFill>
            <a:ln w="38100" cap="flat">
              <a:solidFill>
                <a:srgbClr val="D9482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482B"/>
              </a:solidFill>
              <a:ln w="9525" cap="flat">
                <a:solidFill>
                  <a:srgbClr val="D948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27.2</c:v>
                </c:pt>
                <c:pt idx="1">
                  <c:v>-6.3</c:v>
                </c:pt>
                <c:pt idx="2">
                  <c:v>-15</c:v>
                </c:pt>
                <c:pt idx="3">
                  <c:v>-1.3</c:v>
                </c:pt>
                <c:pt idx="4">
                  <c:v>17.3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0E8C8C"/>
            </a:solidFill>
            <a:ln w="38100" cap="flat">
              <a:solidFill>
                <a:srgbClr val="0E8C8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8C8C"/>
              </a:solidFill>
              <a:ln w="9525" cap="flat">
                <a:solidFill>
                  <a:srgbClr val="0E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26.2</c:v>
                </c:pt>
                <c:pt idx="1">
                  <c:v>3.3</c:v>
                </c:pt>
                <c:pt idx="2">
                  <c:v>-8.2</c:v>
                </c:pt>
                <c:pt idx="3">
                  <c:v>19.7</c:v>
                </c:pt>
                <c:pt idx="4">
                  <c:v>25.6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2024 global sales by product segment, USD bn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global sales (USD bn)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Logic</c:v>
                  </c:pt>
                  <c:pt idx="1">
                    <c:v>Memory</c:v>
                  </c:pt>
                  <c:pt idx="2">
                    <c:v>Analog</c:v>
                  </c:pt>
                  <c:pt idx="3">
                    <c:v>MPU</c:v>
                  </c:pt>
                  <c:pt idx="4">
                    <c:v>Opto</c:v>
                  </c:pt>
                  <c:pt idx="5">
                    <c:v>Discretes</c:v>
                  </c:pt>
                  <c:pt idx="6">
                    <c:v>MCU</c:v>
                  </c:pt>
                  <c:pt idx="7">
                    <c:v>Sensor</c:v>
                  </c:pt>
                  <c:pt idx="8">
                    <c:v>DSP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215.8</c:v>
                </c:pt>
                <c:pt idx="1">
                  <c:v>165.5</c:v>
                </c:pt>
                <c:pt idx="2">
                  <c:v>79.6</c:v>
                </c:pt>
                <c:pt idx="3">
                  <c:v>54.2</c:v>
                </c:pt>
                <c:pt idx="4">
                  <c:v>41.1</c:v>
                </c:pt>
                <c:pt idx="5">
                  <c:v>31</c:v>
                </c:pt>
                <c:pt idx="6">
                  <c:v>21.8</c:v>
                </c:pt>
                <c:pt idx="7">
                  <c:v>18.9</c:v>
                </c:pt>
                <c:pt idx="8">
                  <c:v>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A82B"/>
                </a:solidFill>
              </a:rPr>
              <a:t>GLOBALDATA ASSOCIATE ANALYST ASSIGNMENT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China's Semiconductor Industry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DAE6"/>
                </a:solidFill>
              </a:rPr>
              <a:t>Trends, growth drivers, implications and risk assessment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</a:rPr>
              <a:t>Prepared by Gnaneshwari  |  October 2026</a:t>
            </a:r>
            <a:endParaRPr lang="en-US" sz="1400" dirty="0"/>
          </a:p>
        </p:txBody>
      </p:sp>
      <p:sp>
        <p:nvSpPr>
          <p:cNvPr id="6" name="Motif large"/>
          <p:cNvSpPr/>
          <p:nvPr/>
        </p:nvSpPr>
        <p:spPr>
          <a:xfrm>
            <a:off x="6949440" y="3108960"/>
            <a:ext cx="1554480" cy="1554480"/>
          </a:xfrm>
          <a:prstGeom prst="ellipse">
            <a:avLst/>
          </a:prstGeom>
          <a:solidFill>
            <a:srgbClr val="D9482B">
              <a:alpha val="85000"/>
            </a:srgbClr>
          </a:solidFill>
          <a:ln w="12700">
            <a:solidFill>
              <a:srgbClr val="D9482B"/>
            </a:solidFill>
            <a:prstDash val="solid"/>
          </a:ln>
        </p:spPr>
      </p:sp>
      <p:sp>
        <p:nvSpPr>
          <p:cNvPr id="7" name="Motif small"/>
          <p:cNvSpPr/>
          <p:nvPr/>
        </p:nvSpPr>
        <p:spPr>
          <a:xfrm>
            <a:off x="7589520" y="2743200"/>
            <a:ext cx="640080" cy="640080"/>
          </a:xfrm>
          <a:prstGeom prst="ellipse">
            <a:avLst/>
          </a:prstGeom>
          <a:solidFill>
            <a:srgbClr val="0E8C8C">
              <a:alpha val="90000"/>
            </a:srgbClr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is a large but uneven opportunity: demand is growing, constraints persist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Sources: SIA Factbook 2025 (S01); SIA release, 6 Feb 2026 (S02). 2025 China value is a calculated estimate.</a:t>
            </a:r>
            <a:endParaRPr lang="en-US" sz="1000" dirty="0"/>
          </a:p>
        </p:txBody>
      </p:sp>
      <p:sp>
        <p:nvSpPr>
          <p:cNvPr id="4" name="Stat card 1"/>
          <p:cNvSpPr/>
          <p:nvPr/>
        </p:nvSpPr>
        <p:spPr>
          <a:xfrm>
            <a:off x="457200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$151bn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China regional sales, 2024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Sales to electronic equipment makers in China (S01)</a:t>
            </a:r>
            <a:endParaRPr lang="en-US" sz="1200" dirty="0"/>
          </a:p>
        </p:txBody>
      </p:sp>
      <p:sp>
        <p:nvSpPr>
          <p:cNvPr id="8" name="Stat card 2"/>
          <p:cNvSpPr/>
          <p:nvPr/>
        </p:nvSpPr>
        <p:spPr>
          <a:xfrm>
            <a:off x="3246120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~$177bn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China 2025 estimate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$151bn × (1 + 17.3%) – calculated, not reported (S02)</a:t>
            </a:r>
            <a:endParaRPr lang="en-US" sz="1200" dirty="0"/>
          </a:p>
        </p:txBody>
      </p:sp>
      <p:sp>
        <p:nvSpPr>
          <p:cNvPr id="12" name="Stat card 3"/>
          <p:cNvSpPr/>
          <p:nvPr/>
        </p:nvSpPr>
        <p:spPr>
          <a:xfrm>
            <a:off x="6035040" y="132588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$791.7bn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Global sales, 2025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+25.6% vs $630.5bn in 2024 (S02)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AI, data-centre, automotive and industrial demand support growth, while localization is a national priority.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Advanced AI chips, leading-edge equipment and parts of the design-tool stack remain exposed to export controls.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China's share of global sales fell from 34% (2020) to ~22% (2025E) as global growth concentrated in logic and memory.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sales have moved sideways since 2021 while the global market expanded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SIA/WSTS regional series (S01, S02); workbook sheet 2_Growth_Analysis. 2025E = $151bn × 1.173.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China CAGR 2020–25E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377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Global CAGR 2020–25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 → 22%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China share of global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</a:rPr>
              <a:t>Lighter-red bar is an estimate, not a reported value.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China's 2022–24 contraction diverged from the global rebound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workbook sheet 2_Growth_Analysis, calculated from S01/S02. 2025 China growth is the SIA-reported 17.3%.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2801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1B2D"/>
                </a:solidFill>
              </a:rPr>
              <a:t>What the data says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China fell for three straight years (2022–24) while global sales rose 19.7% in 2024.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The Factbook links the decline to export controls and stronger growth in other regions.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2025 recovery of +17.3% is SIA-reported; the dollar value is derived.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growth is concentrated in logic and memory; no China-only segment split exists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SIA Factbook 2025, Section 2, p.9 (S01); workbook sheet 3_Segment_Analysis. Segment values are global.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re card"/>
          <p:cNvSpPr/>
          <p:nvPr/>
        </p:nvSpPr>
        <p:spPr>
          <a:xfrm>
            <a:off x="6217920" y="12801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of 2024 global sales came from logic (34%) and memory (26%)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88036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Limitation: the Factbook gives global segment values only. China segment values are not inferred from global shares.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trends are shaping China's semiconductor industry</a:t>
            </a:r>
            <a:endParaRPr lang="en-US" sz="2600" dirty="0"/>
          </a:p>
        </p:txBody>
      </p:sp>
      <p:sp>
        <p:nvSpPr>
          <p:cNvPr id="3" name="Number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D948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data-centre 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188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Pulls logic, memory, networking and advanced packaging</a:t>
            </a:r>
            <a:endParaRPr lang="en-US" sz="1400" dirty="0"/>
          </a:p>
        </p:txBody>
      </p:sp>
      <p:sp>
        <p:nvSpPr>
          <p:cNvPr id="7" name="Number 2"/>
          <p:cNvSpPr/>
          <p:nvPr/>
        </p:nvSpPr>
        <p:spPr>
          <a:xfrm>
            <a:off x="457200" y="1929384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836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and resilience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8836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Domestic design, manufacturing, equipment and materials</a:t>
            </a:r>
            <a:endParaRPr lang="en-US" sz="1400" dirty="0"/>
          </a:p>
        </p:txBody>
      </p:sp>
      <p:sp>
        <p:nvSpPr>
          <p:cNvPr id="11" name="Number 3"/>
          <p:cNvSpPr/>
          <p:nvPr/>
        </p:nvSpPr>
        <p:spPr>
          <a:xfrm>
            <a:off x="457200" y="2624328"/>
            <a:ext cx="502920" cy="502920"/>
          </a:xfrm>
          <a:prstGeom prst="ellipse">
            <a:avLst/>
          </a:prstGeom>
          <a:solidFill>
            <a:srgbClr val="D948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786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controls and fragmentation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786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Limits leading-edge access; encourages parallel ecosystems</a:t>
            </a:r>
            <a:endParaRPr lang="en-US" sz="1400" dirty="0"/>
          </a:p>
        </p:txBody>
      </p:sp>
      <p:sp>
        <p:nvSpPr>
          <p:cNvPr id="15" name="Number 4"/>
          <p:cNvSpPr/>
          <p:nvPr/>
        </p:nvSpPr>
        <p:spPr>
          <a:xfrm>
            <a:off x="457200" y="3319272"/>
            <a:ext cx="502920" cy="50292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735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Mature-node capacity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273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Supports substitution; risks oversupply and price pressure</a:t>
            </a:r>
            <a:endParaRPr lang="en-US" sz="1400" dirty="0"/>
          </a:p>
        </p:txBody>
      </p:sp>
      <p:sp>
        <p:nvSpPr>
          <p:cNvPr id="19" name="Number 5"/>
          <p:cNvSpPr/>
          <p:nvPr/>
        </p:nvSpPr>
        <p:spPr>
          <a:xfrm>
            <a:off x="457200" y="4014216"/>
            <a:ext cx="502920" cy="502920"/>
          </a:xfrm>
          <a:prstGeom prst="ellipse">
            <a:avLst/>
          </a:prstGeom>
          <a:solidFill>
            <a:srgbClr val="D948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Cyclicality and concentration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9684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Growth skewed to logic, memory and AI computing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demand and localization pull in the same direction, but supply lags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Sources: WSTS (S04); CSIS, 24 Mar 2026 (S05); CEIAS, 11 Jun 2026 (S06).</a:t>
            </a:r>
            <a:endParaRPr lang="en-US" sz="1000" dirty="0"/>
          </a:p>
        </p:txBody>
      </p:sp>
      <p:sp>
        <p:nvSpPr>
          <p:cNvPr id="4" name="Card AI and data-centre demand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data-centre 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Training and inference need processors, memory, networking and advanced packaging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WSTS names logic and memory as the main 2025 global growth drivers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Demand does not equal domestic supply: performance, software, yields and equipment access constrain adoption</a:t>
            </a:r>
            <a:endParaRPr lang="en-US" sz="1400" dirty="0"/>
          </a:p>
        </p:txBody>
      </p:sp>
      <p:sp>
        <p:nvSpPr>
          <p:cNvPr id="7" name="Card Localization and resilience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and resilience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CSIS (Mar 2026): allied controls accelerated China's localization drive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Opens room for domestic suppliers and alternative-vendor qualification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Track design wins, yields, utilization and adoption, not announcements alone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controls and mature-node expansion create both openings and risks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Sources: CSIS (S05); Omdia, 5 Dec 2025 (S07). Qualitative analyst assessment.</a:t>
            </a:r>
            <a:endParaRPr lang="en-US" sz="1000" dirty="0"/>
          </a:p>
        </p:txBody>
      </p:sp>
      <p:sp>
        <p:nvSpPr>
          <p:cNvPr id="4" name="Card Export controls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controls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Restrict advanced computing chips and manufacturing equipment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Raise compliance complexity for multinationals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Encourage substitution and parallel technology ecosystems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Policy evidence needs date-stamping because rules change</a:t>
            </a:r>
            <a:endParaRPr lang="en-US" sz="1400" dirty="0"/>
          </a:p>
        </p:txBody>
      </p:sp>
      <p:sp>
        <p:nvSpPr>
          <p:cNvPr id="7" name="Card Mature-node capacity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Mature-node capacity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Important for automotive, industrial, power and connectivity chips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Can improve availability and support substitution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Capacity can outpace demand, hitting prices and utilization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Judge by node type, qualification and end-market demand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drivers and what they mean for industry participants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report sections 4 and 5. Qualitative analyst judgment.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drivers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AI and data-centre investment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Electronics manufacturing and consumer devices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Automotive electrification and chip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Domestic substitution and supply-chain resilience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Industrial automation and communications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</a:t>
            </a:r>
            <a:endParaRPr lang="en-US" sz="1800" dirty="0"/>
          </a:p>
        </p:txBody>
      </p:sp>
      <p:sp>
        <p:nvSpPr>
          <p:cNvPr id="7" name="Implication 1"/>
          <p:cNvSpPr/>
          <p:nvPr/>
        </p:nvSpPr>
        <p:spPr>
          <a:xfrm>
            <a:off x="4754880" y="164592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</a:rPr>
              <a:t>Chip designers: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AI accelerators vs software and ecosystem gaps</a:t>
            </a:r>
            <a:endParaRPr lang="en-US" sz="1200" dirty="0"/>
          </a:p>
        </p:txBody>
      </p:sp>
      <p:sp>
        <p:nvSpPr>
          <p:cNvPr id="9" name="Implication 2"/>
          <p:cNvSpPr/>
          <p:nvPr/>
        </p:nvSpPr>
        <p:spPr>
          <a:xfrm>
            <a:off x="4754880" y="223113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2311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</a:rPr>
              <a:t>Foundries: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Node demand, yield, utilization, capital intensity</a:t>
            </a:r>
            <a:endParaRPr lang="en-US" sz="1200" dirty="0"/>
          </a:p>
        </p:txBody>
      </p:sp>
      <p:sp>
        <p:nvSpPr>
          <p:cNvPr id="11" name="Implication 3"/>
          <p:cNvSpPr/>
          <p:nvPr/>
        </p:nvSpPr>
        <p:spPr>
          <a:xfrm>
            <a:off x="4754880" y="281635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8163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</a:rPr>
              <a:t>Equipment and materials: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Regulatory exposure and local qualification pace</a:t>
            </a:r>
            <a:endParaRPr lang="en-US" sz="1200" dirty="0"/>
          </a:p>
        </p:txBody>
      </p:sp>
      <p:sp>
        <p:nvSpPr>
          <p:cNvPr id="13" name="Implication 4"/>
          <p:cNvSpPr/>
          <p:nvPr/>
        </p:nvSpPr>
        <p:spPr>
          <a:xfrm>
            <a:off x="4754880" y="340156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40156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</a:rPr>
              <a:t>Multinationals: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Compliance, scenario planning, supply resilience</a:t>
            </a:r>
            <a:endParaRPr lang="en-US" sz="1200" dirty="0"/>
          </a:p>
        </p:txBody>
      </p:sp>
      <p:sp>
        <p:nvSpPr>
          <p:cNvPr id="15" name="Implication 5"/>
          <p:cNvSpPr/>
          <p:nvPr/>
        </p:nvSpPr>
        <p:spPr>
          <a:xfrm>
            <a:off x="4754880" y="398678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986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</a:rPr>
              <a:t>Investors: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Announced vs operational capacity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controls and technology bottlenecks are the highest-rated risks</a:t>
            </a:r>
            <a:endParaRPr lang="en-US" sz="2600" dirty="0"/>
          </a:p>
        </p:txBody>
      </p:sp>
      <p:sp>
        <p:nvSpPr>
          <p:cNvPr id="3" name="Source note"/>
          <p:cNvSpPr txBox="1"/>
          <p:nvPr/>
        </p:nvSpPr>
        <p:spPr>
          <a:xfrm>
            <a:off x="457200" y="47731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</a:rPr>
              <a:t>Ratings are qualitative analyst judgments for this assignment, not probabilities from the cited sources.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09728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indicators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controls and geopolitics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changes, licensing, restricted entities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and equipment bottlenecks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Lithography, EDA, HBM access; yields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Overcapacity and price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Utilization, wafer prices, capacity vs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cyclicality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Inventories, device sales, order trends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intensity and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Ramp-up timing, yield, depreciation, cash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Supply-chain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8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2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Dependence on foreign equipment, materials,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Outlook: continued investment, uneven progress</a:t>
            </a:r>
            <a:endParaRPr lang="en-US" sz="3000" dirty="0"/>
          </a:p>
        </p:txBody>
      </p:sp>
      <p:sp>
        <p:nvSpPr>
          <p:cNvPr id="3" name="Outlook card 1"/>
          <p:cNvSpPr/>
          <p:nvPr/>
        </p:nvSpPr>
        <p:spPr>
          <a:xfrm>
            <a:off x="640080" y="16459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F4A6B"/>
          </a:solidFill>
          <a:ln w="12700">
            <a:solidFill>
              <a:srgbClr val="2F4A6B"/>
            </a:solidFill>
            <a:prstDash val="solid"/>
          </a:ln>
        </p:spPr>
      </p:sp>
      <p:sp>
        <p:nvSpPr>
          <p:cNvPr id="4" name="Dot 1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</a:rPr>
              <a:t>AI demand and localization may lift selected domestic suppliers</a:t>
            </a:r>
            <a:endParaRPr lang="en-US" sz="1400" dirty="0"/>
          </a:p>
        </p:txBody>
      </p:sp>
      <p:sp>
        <p:nvSpPr>
          <p:cNvPr id="7" name="Outlook card 2"/>
          <p:cNvSpPr/>
          <p:nvPr/>
        </p:nvSpPr>
        <p:spPr>
          <a:xfrm>
            <a:off x="3337560" y="16459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F4A6B"/>
          </a:solidFill>
          <a:ln w="12700">
            <a:solidFill>
              <a:srgbClr val="2F4A6B"/>
            </a:solidFill>
            <a:prstDash val="solid"/>
          </a:ln>
        </p:spPr>
      </p:sp>
      <p:sp>
        <p:nvSpPr>
          <p:cNvPr id="8" name="Dot 2"/>
          <p:cNvSpPr/>
          <p:nvPr/>
        </p:nvSpPr>
        <p:spPr>
          <a:xfrm>
            <a:off x="3566160" y="1828800"/>
            <a:ext cx="411480" cy="411480"/>
          </a:xfrm>
          <a:prstGeom prst="ellipse">
            <a:avLst/>
          </a:prstGeom>
          <a:solidFill>
            <a:srgbClr val="D9482B"/>
          </a:solidFill>
          <a:ln w="12700">
            <a:solidFill>
              <a:srgbClr val="D948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</a:rPr>
              <a:t>Export controls and equipment limits stay key uncertainties</a:t>
            </a:r>
            <a:endParaRPr lang="en-US" sz="1400" dirty="0"/>
          </a:p>
        </p:txBody>
      </p:sp>
      <p:sp>
        <p:nvSpPr>
          <p:cNvPr id="11" name="Outlook card 3"/>
          <p:cNvSpPr/>
          <p:nvPr/>
        </p:nvSpPr>
        <p:spPr>
          <a:xfrm>
            <a:off x="6035040" y="164592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F4A6B"/>
          </a:solidFill>
          <a:ln w="12700">
            <a:solidFill>
              <a:srgbClr val="2F4A6B"/>
            </a:solidFill>
            <a:prstDash val="solid"/>
          </a:ln>
        </p:spPr>
      </p:sp>
      <p:sp>
        <p:nvSpPr>
          <p:cNvPr id="12" name="Dot 3"/>
          <p:cNvSpPr/>
          <p:nvPr/>
        </p:nvSpPr>
        <p:spPr>
          <a:xfrm>
            <a:off x="6263640" y="1828800"/>
            <a:ext cx="411480" cy="411480"/>
          </a:xfrm>
          <a:prstGeom prst="ellipse">
            <a:avLst/>
          </a:prstGeom>
          <a:solidFill>
            <a:srgbClr val="E3A82B"/>
          </a:solidFill>
          <a:ln w="12700">
            <a:solidFill>
              <a:srgbClr val="E3A8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</a:rPr>
              <a:t>Sales, production, utilization, segment mix, capability and policy exposure, tracked separately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</a:rPr>
              <a:t>Use one market definition and one source vintage for the full series; replace the 2025E with a verified reported value when available.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Methodology, limitations and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Definition: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China regional sales = sales to electronic equipment makers in China; not Chinese-company production or final consumption.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2025 estimate: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$151.0bn × 1.173 ≈ $177.1bn, on a rounded base.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Vintages: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SIA global 2025 $791.7bn vs WSTS $795.6bn; SIA kept as main series.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B2430"/>
                </a:solidFill>
              </a:rPr>
              <a:t>Monthly data: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Dec 2025 values are three-month moving averages, not annual.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S01  SIA/WSTS, 2025 SIA Factbook, Section 2, pp. 8–10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S02  SIA, 6 Feb 2026: global sales +25.6% to $791.7bn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S03  SIA/WSTS, December 2025 regional table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S04  WSTS, 6 Mar 2026: market grows 26% to $796bn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S05  CSIS, 24 Mar 2026: China's localization drive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S06  CEIAS, 11 Jun 2026: China's AI chip supply chain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B2430"/>
                </a:solidFill>
              </a:rPr>
              <a:t>S07  Omdia, 5 Dec 2025: 2026 semiconductor trends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on Ink">
  <a:themeElements>
    <a:clrScheme name="Silicon Ink">
      <a:dk1>
        <a:srgbClr val="1B2430"/>
      </a:dk1>
      <a:lt1>
        <a:srgbClr val="FFFFFF"/>
      </a:lt1>
      <a:dk2>
        <a:srgbClr val="0F1B2D"/>
      </a:dk2>
      <a:lt2>
        <a:srgbClr val="EEF2F6"/>
      </a:lt2>
      <a:accent1>
        <a:srgbClr val="D9482B"/>
      </a:accent1>
      <a:accent2>
        <a:srgbClr val="0E8C8C"/>
      </a:accent2>
      <a:accent3>
        <a:srgbClr val="E3A82B"/>
      </a:accent3>
      <a:accent4>
        <a:srgbClr val="5B6B80"/>
      </a:accent4>
      <a:accent5>
        <a:srgbClr val="9FB3C8"/>
      </a:accent5>
      <a:accent6>
        <a:srgbClr val="2F4A6B"/>
      </a:accent6>
      <a:hlink>
        <a:srgbClr val="0E8C8C"/>
      </a:hlink>
      <a:folHlink>
        <a:srgbClr val="5B6B80"/>
      </a:folHlink>
    </a:clrScheme>
    <a:fontScheme name="Silico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Semiconductor Industry – Trends, Drivers, Implications and Risks</dc:title>
  <dc:subject>PptxGenJS Presentation</dc:subject>
  <dc:creator>Gnaneshwari</dc:creator>
  <cp:lastModifiedBy>Gnaneshwari</cp:lastModifiedBy>
  <cp:revision>1</cp:revision>
  <dcterms:created xsi:type="dcterms:W3CDTF">2026-10-15T05:42:00Z</dcterms:created>
  <dcterms:modified xsi:type="dcterms:W3CDTF">2026-10-15T05:42:00Z</dcterms:modified>
</cp:coreProperties>
</file>